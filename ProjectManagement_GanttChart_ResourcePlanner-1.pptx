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Team Utilisation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Priya
Sharma</c:v>
                  </c:pt>
                  <c:pt idx="1">
                    <c:v>Rahul
Mehta</c:v>
                  </c:pt>
                  <c:pt idx="2">
                    <c:v>Amit
Roy</c:v>
                  </c:pt>
                  <c:pt idx="3">
                    <c:v>Sunita
Verma</c:v>
                  </c:pt>
                  <c:pt idx="4">
                    <c:v>Karan
Malhotra</c:v>
                  </c:pt>
                  <c:pt idx="5">
                    <c:v>Deepa
Krishnan</c:v>
                  </c:pt>
                  <c:pt idx="6">
                    <c:v>Neha
Joshi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</c:v>
                </c:pt>
                <c:pt idx="1">
                  <c:v>78</c:v>
                </c:pt>
                <c:pt idx="2">
                  <c:v>90</c:v>
                </c:pt>
                <c:pt idx="3">
                  <c:v>65</c:v>
                </c:pt>
                <c:pt idx="4">
                  <c:v>55</c:v>
                </c:pt>
                <c:pt idx="5">
                  <c:v>70</c:v>
                </c:pt>
                <c:pt idx="6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5029200" cy="50292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BUSINESS INTELLIGENCE / ANALYTICS  •  20 MAY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Project Management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Gantt Chart &amp; Resource Planner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E2E8F0"/>
                </a:solidFill>
              </a:rPr>
              <a:t>Excel Project Management — 20 May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417320" cy="9601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375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Phases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76272" y="3291840"/>
            <a:ext cx="1417320" cy="9601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33375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76272" y="37490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Techniques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03904" y="3291840"/>
            <a:ext cx="1417320" cy="9601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33375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150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37490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Data Rows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31536" y="3291840"/>
            <a:ext cx="1417320" cy="9601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33375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₹8.5L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31536" y="37490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Budget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59168" y="3291840"/>
            <a:ext cx="1417320" cy="96012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33375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59168" y="37490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Progress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4074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Done by: Aditya Saha &amp; Souparno Goswami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64515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Mentored by: Sir Sayan Sau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Project Manager: Karan Malhotra  |  Sponsor: Ananya Singh — Senior Analytics Lead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5A"/>
                </a:solidFill>
              </a:rPr>
              <a:t>Project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663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966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Project Name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19786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Project Management Gantt Chart &amp; Resource Planner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4663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63677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Department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83794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Business Intelligence / Analytics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663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76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Duration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47802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20 May 2026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663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9169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Priority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311810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HIGH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4663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5570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Status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375818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In Progress — 50% Complete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4663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419709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Budget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" y="4398264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</a:rPr>
              <a:t>₹8,50,000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94960" y="960120"/>
            <a:ext cx="3291840" cy="3886200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0" y="1024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THE TEAM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1417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Priya Sharma — Sr. Data Analyst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40680" y="18928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Rahul Mehta — BI Developer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40680" y="23682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Amit Roy — Data Engineer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40680" y="28437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Sunita Verma — QA Analyst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40680" y="3319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Karan Malhotra — Project Manager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40680" y="3794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Deepa Krishnan — Jr. Analyst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40680" y="4270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Neha Joshi — Data Architect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5486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Why Did We</a:t>
            </a:r>
            <a:endParaRPr lang="en-US" sz="2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Start This</a:t>
            </a:r>
            <a:endParaRPr lang="en-US" sz="2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82880" y="274320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Real-world data is messy.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Before it can power a dashboard, it needs to be cleaned, structured, and validated — systematically.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383280" y="228600"/>
            <a:ext cx="26060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93008" y="320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86200" y="320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A"/>
                </a:solidFill>
              </a:rPr>
              <a:t>Duplicate Records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93008" y="704088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CRM exports contained identical rows misleading analysis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"/>
            <a:ext cx="26060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27648" y="320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320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A"/>
                </a:solidFill>
              </a:rPr>
              <a:t>Inconsistent 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27648" y="704088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'north west', 'NORTH WEST', 'North West' — all meant the same region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801368"/>
            <a:ext cx="26060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93008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86200" y="1892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A"/>
                </a:solidFill>
              </a:rPr>
              <a:t>Broken Date Formats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3008" y="2276856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Legacy systems exported dates as '15-01-2024', '01/15/2024', and serial numbers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801368"/>
            <a:ext cx="26060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27648" y="1892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18928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A"/>
                </a:solidFill>
              </a:rPr>
              <a:t>Missing Values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27648" y="2276856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Blank cells in customer databases caused formula errors and wrong counts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83280" y="3374136"/>
            <a:ext cx="26060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93008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₹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86200" y="34655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A"/>
                </a:solidFill>
              </a:rPr>
              <a:t>Non-Numeric Revenue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93008" y="384962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'Rs. 1,50,000' and '₹150000' couldn't be summed without cleanup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3374136"/>
            <a:ext cx="26060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27648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20840" y="34655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A"/>
                </a:solidFill>
              </a:rPr>
              <a:t>Fragmented Columns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27648" y="384962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Full name in one column; addresses split across three fields with no standard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A"/>
                </a:solidFill>
              </a:rPr>
              <a:t>How We Structured the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4 sequential phases, each building on the last — from raw chaos to dashboard-ready data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965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9659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247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PHASE 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7472" y="13167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20 May 2026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5A"/>
                </a:solidFill>
              </a:rPr>
              <a:t>Foundation Cleaning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640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0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Remove Duplicates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752344"/>
            <a:ext cx="640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5234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Trim Extra Spaces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264408"/>
            <a:ext cx="640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644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Standardize Text Case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✔ Completed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50592" y="1097280"/>
            <a:ext cx="1965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1097280"/>
            <a:ext cx="196596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3744" y="11247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PHASE 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23744" y="13167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20 May 2026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542032" y="168249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5A"/>
                </a:solidFill>
              </a:rPr>
              <a:t>Structure &amp; Format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42032" y="2240280"/>
            <a:ext cx="64008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2240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 Date Formats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42032" y="2752344"/>
            <a:ext cx="64008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275234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Handle Missing Values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42032" y="3264408"/>
            <a:ext cx="64008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192" y="32644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Split Combined Columns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23744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⟳ In Progress (65%)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26864" y="1097280"/>
            <a:ext cx="1965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1097280"/>
            <a:ext cx="19659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11247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PHASE 03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00016" y="13167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20 May 2026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18304" y="168249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5A"/>
                </a:solidFill>
              </a:rPr>
              <a:t>Value Validation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18304" y="2240280"/>
            <a:ext cx="640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5464" y="2240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Remove Non-Numeric Chars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18304" y="2752344"/>
            <a:ext cx="640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5464" y="275234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Validate Data Ranges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18304" y="3264408"/>
            <a:ext cx="6400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32644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Standardize Labels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00016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○ Not Started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803136" y="1097280"/>
            <a:ext cx="1965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03136" y="1097280"/>
            <a:ext cx="196596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11247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PHASE 04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76288" y="13167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20 May 2026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894576" y="168249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5A"/>
                </a:solidFill>
              </a:rPr>
              <a:t>Final Consolidation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94576" y="2240280"/>
            <a:ext cx="64008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31736" y="224028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Combine &amp; Reconcile Columns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94576" y="2752344"/>
            <a:ext cx="64008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31736" y="275234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QA Checklist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894576" y="3264408"/>
            <a:ext cx="64008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31736" y="32644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Dashboard Deployment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76288" y="4315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○ Not Started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176272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→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4352544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→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6528816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 Techniques We Mastered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Each technique solved a specific, real data quality problem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72768" cy="1600200"/>
          </a:xfrm>
          <a:prstGeom prst="rect">
            <a:avLst/>
          </a:prstGeom>
          <a:solidFill>
            <a:srgbClr val="1E3A6B"/>
          </a:solidFill>
          <a:ln w="12700">
            <a:solidFill>
              <a:srgbClr val="2D4F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572768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98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0881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Ph.1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Remove Duplicates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Completed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93392" y="1005840"/>
            <a:ext cx="1572768" cy="1600200"/>
          </a:xfrm>
          <a:prstGeom prst="rect">
            <a:avLst/>
          </a:prstGeom>
          <a:solidFill>
            <a:srgbClr val="1E3A6B"/>
          </a:solidFill>
          <a:ln w="12700">
            <a:solidFill>
              <a:srgbClr val="2D4F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005840"/>
            <a:ext cx="1572768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66544" y="10698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07792" y="10881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Ph.1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84832" y="14630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Trim Extra Spaces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228600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Completed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12464" y="1005840"/>
            <a:ext cx="1572768" cy="1600200"/>
          </a:xfrm>
          <a:prstGeom prst="rect">
            <a:avLst/>
          </a:prstGeom>
          <a:solidFill>
            <a:srgbClr val="1E3A6B"/>
          </a:solidFill>
          <a:ln w="12700">
            <a:solidFill>
              <a:srgbClr val="2D4F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2464" y="1005840"/>
            <a:ext cx="1572768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10698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26864" y="10881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Ph.1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03904" y="14630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Standardize Text Case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03904" y="228600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Completed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31536" y="1005840"/>
            <a:ext cx="1572768" cy="1600200"/>
          </a:xfrm>
          <a:prstGeom prst="rect">
            <a:avLst/>
          </a:prstGeom>
          <a:solidFill>
            <a:srgbClr val="1E3A6B"/>
          </a:solidFill>
          <a:ln w="12700">
            <a:solidFill>
              <a:srgbClr val="2D4F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31536" y="1005840"/>
            <a:ext cx="1572768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4688" y="10698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45936" y="10881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Ph.2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22976" y="14630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Fix Date Formats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22976" y="228600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Completed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150608" y="1005840"/>
            <a:ext cx="1572768" cy="1600200"/>
          </a:xfrm>
          <a:prstGeom prst="rect">
            <a:avLst/>
          </a:prstGeom>
          <a:solidFill>
            <a:srgbClr val="1E3A6B"/>
          </a:solidFill>
          <a:ln w="12700">
            <a:solidFill>
              <a:srgbClr val="2D4F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0608" y="1005840"/>
            <a:ext cx="1572768" cy="347472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0698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65008" y="10881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Ph.2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42048" y="14630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Handle Missing Values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42048" y="228600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Completed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834640"/>
            <a:ext cx="1572768" cy="1600200"/>
          </a:xfrm>
          <a:prstGeom prst="rect">
            <a:avLst/>
          </a:prstGeom>
          <a:solidFill>
            <a:srgbClr val="1E3A6B"/>
          </a:solidFill>
          <a:ln w="12700">
            <a:solidFill>
              <a:srgbClr val="2D4F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2834640"/>
            <a:ext cx="1572768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8986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88720" y="29169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Ph.2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32918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Split Combined Columns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11480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In Progress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993392" y="2834640"/>
            <a:ext cx="1572768" cy="1600200"/>
          </a:xfrm>
          <a:prstGeom prst="rect">
            <a:avLst/>
          </a:prstGeom>
          <a:solidFill>
            <a:srgbClr val="1E3A6B"/>
          </a:solidFill>
          <a:ln w="12700">
            <a:solidFill>
              <a:srgbClr val="2D4F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93392" y="2834640"/>
            <a:ext cx="1572768" cy="34747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66544" y="28986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07792" y="29169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Ph.3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084832" y="32918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Remove Non-Numeric Chars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084832" y="411480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In Progress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712464" y="2834640"/>
            <a:ext cx="1572768" cy="1600200"/>
          </a:xfrm>
          <a:prstGeom prst="rect">
            <a:avLst/>
          </a:prstGeom>
          <a:solidFill>
            <a:srgbClr val="1E3A6B"/>
          </a:solidFill>
          <a:ln w="12700">
            <a:solidFill>
              <a:srgbClr val="2D4F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12464" y="2834640"/>
            <a:ext cx="1572768" cy="347472"/>
          </a:xfrm>
          <a:prstGeom prst="rect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85616" y="28986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26864" y="29169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Ph.3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803904" y="32918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Validate Data Ranges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803904" y="411480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Not Started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431536" y="2834640"/>
            <a:ext cx="1572768" cy="1600200"/>
          </a:xfrm>
          <a:prstGeom prst="rect">
            <a:avLst/>
          </a:prstGeom>
          <a:solidFill>
            <a:srgbClr val="1E3A6B"/>
          </a:solidFill>
          <a:ln w="12700">
            <a:solidFill>
              <a:srgbClr val="2D4F8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431536" y="2834640"/>
            <a:ext cx="1572768" cy="347472"/>
          </a:xfrm>
          <a:prstGeom prst="rect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04688" y="28986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345936" y="29169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Ph.3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522976" y="32918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Standardize Category Labels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522976" y="411480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Not Started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150608" y="2834640"/>
            <a:ext cx="1572768" cy="1600200"/>
          </a:xfrm>
          <a:prstGeom prst="rect">
            <a:avLst/>
          </a:prstGeom>
          <a:solidFill>
            <a:srgbClr val="1E3A6B"/>
          </a:solidFill>
          <a:ln w="12700">
            <a:solidFill>
              <a:srgbClr val="2D4F8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50608" y="2834640"/>
            <a:ext cx="1572768" cy="347472"/>
          </a:xfrm>
          <a:prstGeom prst="rect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23760" y="289864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T10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065008" y="2916936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Ph.4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242048" y="3291840"/>
            <a:ext cx="13898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Combine &amp; Reconcile Columns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42048" y="4114800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Not Started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A"/>
                </a:solidFill>
              </a:rPr>
              <a:t>The Formulas That Did the Heavy Lifting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Techniques 1 – 5  |  Foundation &amp; Structure Phases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424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T1 — Remove Duplicates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261872"/>
            <a:ext cx="3200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984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=COUNTIF($A$2:$A2, A2) &gt;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0" y="1042416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</a:rPr>
              <a:t>Flags each row as duplicate (TRUE) or unique (FALSE). Then use Data → Remove Duplicates on the key column. Saved us from double-counting CRM orders.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773936"/>
            <a:ext cx="84124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288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T2 — Trim Extra Spaces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048256"/>
            <a:ext cx="3200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08483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=TRIM(CLEAN(A2))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31920" y="182880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</a:rPr>
              <a:t>TRIM removes leading, trailing and double spaces. CLEAN removes invisible characters (ASCII 0–31) like carriage returns from legacy imports. Together they standardized all customer names.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84124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151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T3 — Standardize Text Case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3200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87121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=PROPER(A2)   /   =UPPER(A2)   /   =LOWER(A2)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31920" y="2615184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</a:rPr>
              <a:t>PROPER capitalizes each word — perfect for names and region labels. UPPER for codes and IDs. LOWER for emails. This made pivot tables work correctly by eliminating case-based duplicates.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346704"/>
            <a:ext cx="84124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0156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T4 — Fix Date Formats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621024"/>
            <a:ext cx="3200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657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=DATEVALUE(A2)   or   =DATE(RIGHT(A2,4), MID(A2,4,2), LEFT(A2,2))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31920" y="3401568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</a:rPr>
              <a:t>DATEVALUE converts text that looks like a date into an Excel date serial. DATE(year, month, day) extracts parts from DD-MM-YYYY strings. Without this, no timeline or Gantt chart could sort correctly.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4133088"/>
            <a:ext cx="84124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1879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T5 — Handle Missing Values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4407408"/>
            <a:ext cx="3200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439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=IF(ISBLANK(A2), "Unknown", A2)   /   =IFERROR(formula, "N/A")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31920" y="4187952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</a:rPr>
              <a:t>ISBLANK detects empty cells and replaces them with a default label. IFERROR wraps any formula to catch #N/A, #REF!, #DIV/0! errors — preventing broken dashboards downstream.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5A"/>
                </a:solidFill>
              </a:rPr>
              <a:t>More Formulas — Advanced Cleaning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Techniques 6 – 10  |  Validation &amp; Consolidation Phases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1498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T6 — Split Combined Columns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32004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=LEFT(A2, FIND(" ", A2)-1)   /   =MID(A2, FIND(" ",A2)+1, LEN(A2))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31920" y="101498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</a:rPr>
              <a:t>LEFT extracts the first name (everything before the first space). MID grabs the last name. Applied to the full Contact Database to separate 'Karan Malhotra' into two clean columns.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841248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3794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T7 — Remove Non-Numeric Characters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057400"/>
            <a:ext cx="32004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08483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=VALUE(SUBSTITUTE(SUBSTITUTE(A2,"Rs. ",""),",",""))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931920" y="183794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</a:rPr>
              <a:t>SUBSTITUTE removes the 'Rs. ' prefix and then the comma separators. VALUE converts the resulting text to a true number. Enabled SUM/AVERAGE on ₹1,50,000 style revenue strings.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6090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T8 — Validate Data Ranges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32004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90779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=IF(AND(A2&gt;=18, A2&lt;=65), "Valid", "Invalid")   /   =AVERAGEIFS(range, range, "&gt;="&amp;18, range, "&lt;="&amp;65)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931920" y="266090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</a:rPr>
              <a:t>AND checks both bounds in one shot. AVERAGEIFS calculates the mean ignoring out-of-range values. COUNTIFS counts only valid rows. Flagged age outliers in the HR dataset before they skewed analysis.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841248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8386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T9 — Standardize Category Labels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703320"/>
            <a:ext cx="32004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73075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=IFERROR(VLOOKUP(UPPER(A2), MapTable, 2, 0), PROPER(A2))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31920" y="348386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</a:rPr>
              <a:t>VLOOKUP looks up a normalized mapping table (e.g. 'ELECTRONICS' → 'Electronics'). UPPER ensures case-insensitive matching. IFERROR falls back to PROPER if no match exists. Fixed messy Product SKU categories.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4251960"/>
            <a:ext cx="8412480" cy="7680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0682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T10 — Combine &amp; Reconcile Columns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4526280"/>
            <a:ext cx="32004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55371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=TEXTJOIN(", ", TRUE, A2, B2, C2)   /   =A2 &amp; "-" &amp; TEXT(B2,"YYYYMMDD")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931920" y="430682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4155"/>
                </a:solidFill>
              </a:rPr>
              <a:t>TEXTJOIN merges address parts with comma separator and skips blanks (TRUE). The &amp; operator builds composite unique keys like 'C001-20260520' — essential for reconciling multi-source address data.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5A"/>
                </a:solidFill>
              </a:rPr>
              <a:t>Before &amp; After — The Transformation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What the raw data looked like — and what we turned it into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RAW DATA (Messy)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41148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875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✔  CLEANED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Phase naming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25880" y="1426464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4996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PHASE1 / phase 2 / Phase 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0" y="14813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09160" y="1426464"/>
            <a:ext cx="39776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9961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Phase 1 / Phase 2 / Phase 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Names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25880" y="1929384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20025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  Priya  Sharma  / DEEPA KRISHNAN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297680" y="19842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1929384"/>
            <a:ext cx="39776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00253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Priya Sharma / Deepa Krishnan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Status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25880" y="2432304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2505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completed / COMPLETED / Complete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0" y="248716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09160" y="2432304"/>
            <a:ext cx="39776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50545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Completed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2971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Currency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25880" y="2935224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30083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₹4200 / Rs. 4,000 / INR 5,500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297680" y="2990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09160" y="2935224"/>
            <a:ext cx="39776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0083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4200 / 4000 / 5500 (number)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% Complete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325880" y="3438144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17320" y="35112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100.00% / 40 % / 25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97680" y="34930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09160" y="3438144"/>
            <a:ext cx="39776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51129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1.0 / 0.4 / 0.25 (decimal)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Missing values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325880" y="3941064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17320" y="4014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TBD / N/A / (blank)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97680" y="39959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709160" y="3941064"/>
            <a:ext cx="39776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401421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0 or Unknown (consistent)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Dates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325880" y="4443984"/>
            <a:ext cx="2926080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17320" y="4517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</a:rPr>
              <a:t>20-05-2026 / 05/20/2026 / 46192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297680" y="449884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709160" y="4443984"/>
            <a:ext cx="397764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51713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</a:rPr>
              <a:t>45420 (uniform serial)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5A"/>
                </a:solidFill>
              </a:rPr>
              <a:t>Our Team — Who Did What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572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822960"/>
            <a:ext cx="365760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20640" y="822960"/>
            <a:ext cx="54864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57800" y="87782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A"/>
                </a:solidFill>
              </a:rPr>
              <a:t>Priya Sharma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257800" y="10972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Sr. Data Analyst  •  5 tasks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257800" y="12801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9488"/>
                </a:solidFill>
              </a:rPr>
              <a:t>COUNTIF, TRIM, VLOOKUP, ISBLANK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120640" y="1591056"/>
            <a:ext cx="365760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20640" y="1591056"/>
            <a:ext cx="54864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7800" y="164592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A"/>
                </a:solidFill>
              </a:rPr>
              <a:t>Rahul Mehta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57800" y="186537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BI Developer  •  3 tasks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257800" y="204825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9488"/>
                </a:solidFill>
              </a:rPr>
              <a:t>UPPER/LOWER/PROPER, LEFT/MID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120640" y="2359152"/>
            <a:ext cx="365760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2359152"/>
            <a:ext cx="54864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57800" y="241401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A"/>
                </a:solidFill>
              </a:rPr>
              <a:t>Amit Roy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257800" y="263347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Data Engineer  •  3 tasks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57800" y="28163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9488"/>
                </a:solidFill>
              </a:rPr>
              <a:t>DATEVALUE, VALUE, DATE, TEXTJOIN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120640" y="3127248"/>
            <a:ext cx="365760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20640" y="3127248"/>
            <a:ext cx="54864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57800" y="318211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A"/>
                </a:solidFill>
              </a:rPr>
              <a:t>Sunita Verma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257800" y="340156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QA Analyst  •  3 tasks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257800" y="35844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9488"/>
                </a:solidFill>
              </a:rPr>
              <a:t>IFERROR, ISBLANK, AVERAGEIFS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120640" y="3895344"/>
            <a:ext cx="3657600" cy="69494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20640" y="3895344"/>
            <a:ext cx="54864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57800" y="395020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5A"/>
                </a:solidFill>
              </a:rPr>
              <a:t>Karan Malhotra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257800" y="416966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Project Manager  •  4 tasks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257800" y="435254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9488"/>
                </a:solidFill>
              </a:rPr>
              <a:t>Planning, Reporting, Stakeholder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" y="3977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Total Hours: 808  |  Avg Rate: ₹3,886/day  |  7 Specialists  |  22 Task Assignments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5A"/>
                </a:solidFill>
              </a:rPr>
              <a:t>Project Timeline — 26-Week Gantt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20 May 2026  |  Sequential phases with clear dependencies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514600" y="950976"/>
            <a:ext cx="1051560" cy="292608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14600" y="9692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11880" y="950976"/>
            <a:ext cx="1051560" cy="292608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9692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950976"/>
            <a:ext cx="1051560" cy="292608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9692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06440" y="950976"/>
            <a:ext cx="1051560" cy="292608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9692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903720" y="950976"/>
            <a:ext cx="1051560" cy="292608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9692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001000" y="950976"/>
            <a:ext cx="1051560" cy="292608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9692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Jun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298448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36245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Remove Duplicates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95728" y="13624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Priya Sharma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514600" y="1344168"/>
            <a:ext cx="164592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664208"/>
            <a:ext cx="859536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172821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Trim Extra Spaces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95728" y="172821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Rahul Mehta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337560" y="1709928"/>
            <a:ext cx="12344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029968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09397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Standardize Text Case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95728" y="209397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Neha Joshi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749040" y="2075688"/>
            <a:ext cx="123444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395728"/>
            <a:ext cx="859536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45973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Fix Date Formats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95728" y="245973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Amit Roy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818888" y="2441448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761488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282549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Handle Missing Values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395728" y="282549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Sunita Verma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5394960" y="2807208"/>
            <a:ext cx="164592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127248"/>
            <a:ext cx="859536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19125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Split Combined Cols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395728" y="319125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Karan Malhotra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806440" y="3172968"/>
            <a:ext cx="1481328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493008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55701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Remove Non-Numeric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395728" y="355701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Amit Roy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300216" y="3538728"/>
            <a:ext cx="16459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858768"/>
            <a:ext cx="859536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92277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Validate Data Ranges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395728" y="392277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Pooja Iyer</a:t>
            </a: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629400" y="3904488"/>
            <a:ext cx="16459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4224528"/>
            <a:ext cx="85953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28853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Standardize Labels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395728" y="428853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Siddharth Rao</a:t>
            </a: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6958584" y="4270248"/>
            <a:ext cx="1636776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654296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Combine &amp; Reconcile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395728" y="4654296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Vikram Nair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8439912" y="4636008"/>
            <a:ext cx="155448" cy="228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97280" y="4800600"/>
            <a:ext cx="164592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25880" y="477316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Phase 1 — Foundation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108960" y="4800600"/>
            <a:ext cx="16459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37560" y="477316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Phase 2 — Structure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120640" y="480060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49240" y="477316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Phase 3 — Validation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132320" y="4800600"/>
            <a:ext cx="164592" cy="1645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60920" y="477316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Phase 4 — Final QA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5486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Pre-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Deployment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Checklist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2560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E0F2F1"/>
                </a:solidFill>
              </a:rPr>
              <a:t>10-point quality gate before connecting the cleaned dataset to the project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3794760"/>
            <a:ext cx="2514600" cy="1005840"/>
          </a:xfrm>
          <a:prstGeom prst="rect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38404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5 Completed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2 In Progress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3 Not Started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64592"/>
            <a:ext cx="2743200" cy="8595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164592"/>
            <a:ext cx="320040" cy="859536"/>
          </a:xfrm>
          <a:prstGeom prst="rect">
            <a:avLst/>
          </a:prstGeom>
          <a:solidFill>
            <a:srgbClr val="16A34A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438912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65576" y="21945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No duplicate rows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65576" y="46634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COUNTIF on key column — all =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65576" y="731520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Completed  —  Priya Sharma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89320" y="164592"/>
            <a:ext cx="2743200" cy="8595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64592"/>
            <a:ext cx="320040" cy="859536"/>
          </a:xfrm>
          <a:prstGeom prst="rect">
            <a:avLst/>
          </a:prstGeom>
          <a:solidFill>
            <a:srgbClr val="16A34A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5896" y="438912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91656" y="21945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No extra spaces in text fields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91656" y="46634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LEN(TRIM(A2))=LEN(A2) for all rows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91656" y="731520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Completed  —  Rahul Mehta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063240" y="1124712"/>
            <a:ext cx="2743200" cy="8595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63240" y="1124712"/>
            <a:ext cx="320040" cy="859536"/>
          </a:xfrm>
          <a:prstGeom prst="rect">
            <a:avLst/>
          </a:prstGeom>
          <a:solidFill>
            <a:srgbClr val="16A34A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9816" y="1399032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65576" y="117957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Consistent text casing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65576" y="142646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values match expected list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65576" y="1691640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Completed  —  Neha Joshi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89320" y="1124712"/>
            <a:ext cx="2743200" cy="8595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1124712"/>
            <a:ext cx="320040" cy="859536"/>
          </a:xfrm>
          <a:prstGeom prst="rect">
            <a:avLst/>
          </a:prstGeom>
          <a:solidFill>
            <a:srgbClr val="16A34A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25896" y="1399032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91656" y="117957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All dates are true date serials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91656" y="142646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ISNUMBER(A2)=TRUE for all date cells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391656" y="1691640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Completed  —  Amit Roy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63240" y="2084832"/>
            <a:ext cx="2743200" cy="8595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63240" y="2084832"/>
            <a:ext cx="320040" cy="859536"/>
          </a:xfrm>
          <a:prstGeom prst="rect">
            <a:avLst/>
          </a:prstGeom>
          <a:solidFill>
            <a:srgbClr val="16A34A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99816" y="2359152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65576" y="213969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No unexpected blank cells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65576" y="238658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COUNTBLANK returns 0 for mandatory cols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65576" y="2651760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Completed  —  Sunita Verma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989320" y="2084832"/>
            <a:ext cx="2743200" cy="8595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89320" y="2084832"/>
            <a:ext cx="320040" cy="859536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25896" y="2359152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91656" y="213969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All numeric fields are numbers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91656" y="238658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ISNUMBER returns TRUE; no left-aligned nums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391656" y="2651760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⟳ In Progress  —  Karan Malhotra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063240" y="3044952"/>
            <a:ext cx="2743200" cy="8595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63240" y="3044952"/>
            <a:ext cx="320040" cy="859536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99816" y="3319272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465576" y="309981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Category labels standardised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65576" y="334670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on category; unique count matches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465576" y="3611880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⟳ In Progress  —  Siddharth Rao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989320" y="3044952"/>
            <a:ext cx="2743200" cy="8595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89320" y="3044952"/>
            <a:ext cx="320040" cy="859536"/>
          </a:xfrm>
          <a:prstGeom prst="rect">
            <a:avLst/>
          </a:prstGeom>
          <a:solidFill>
            <a:srgbClr val="64748B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25896" y="3319272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91656" y="309981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No out-of-range values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91656" y="334670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&amp; MAX match expected bounds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391656" y="3611880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○ Not Started  —  Pooja Iyer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063240" y="4005072"/>
            <a:ext cx="2743200" cy="8595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63240" y="4005072"/>
            <a:ext cx="320040" cy="859536"/>
          </a:xfrm>
          <a:prstGeom prst="rect">
            <a:avLst/>
          </a:prstGeom>
          <a:solidFill>
            <a:srgbClr val="64748B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99816" y="4279392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465576" y="405993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Data formatted as Excel Table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465576" y="430682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Ctrl+T applied — dynamic named ranges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465576" y="4572000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○ Not Started  —  Deepa Krishnan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989320" y="4005072"/>
            <a:ext cx="2743200" cy="8595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89320" y="4005072"/>
            <a:ext cx="320040" cy="859536"/>
          </a:xfrm>
          <a:prstGeom prst="rect">
            <a:avLst/>
          </a:prstGeom>
          <a:solidFill>
            <a:srgbClr val="16A34A">
              <a:alpha val="7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25896" y="4279392"/>
            <a:ext cx="246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391656" y="4059936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5A"/>
                </a:solidFill>
              </a:rPr>
              <a:t>Backup of raw data retained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391656" y="4306824"/>
            <a:ext cx="22677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 sheet/workbook copy preserved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391656" y="4572000"/>
            <a:ext cx="22677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</a:rPr>
              <a:t>✔ Completed  —  Vikram Nair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5A"/>
                </a:solidFill>
              </a:rPr>
              <a:t>What We Learned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804672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2359152"/>
            <a:ext cx="2651760" cy="365760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9144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5A"/>
                </a:solidFill>
              </a:rPr>
              <a:t>Data is Never Perfect First 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85623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Real-world datasets always contain inconsistencies. Our 150-row CRM export had duplicates, broken dates, and mixed case — all at once. Cleaning is an iterative process, not a one-time fix.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227832" y="804672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2359152"/>
            <a:ext cx="2651760" cy="365760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9144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64992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5A"/>
                </a:solidFill>
              </a:rPr>
              <a:t>Formulas Are More Powerful in Combination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85623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TRIM(CLEAN(A2)) is stronger than TRIM alone. VALUE(SUBSTITUTE(...)) solves what no single formula could. Nesting functions unlocks the full power of Excel as a cleaning tool.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08192" y="804672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08192" y="2359152"/>
            <a:ext cx="2651760" cy="365760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9144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45352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5A"/>
                </a:solidFill>
              </a:rPr>
              <a:t>Structure Enables Dashboards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45352" y="185623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Formatting data as an Excel Table (Ctrl+T) before building PivotTables means the dashboard expands automatically when new rows are added. Clean structure = self-updating analytics.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7472" y="28346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4389120"/>
            <a:ext cx="2651760" cy="365760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9443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" y="34015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5A"/>
                </a:solidFill>
              </a:rPr>
              <a:t>Checklists Prevent Dashboard Breakage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" y="38862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Our 10-point pre-deployment checklist caught out-of-range values and non-numeric fields before they could cause #DIV/0! or incorrect aggregations. QA is not optional — it is the last line of defense.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27832" y="28346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4389120"/>
            <a:ext cx="2651760" cy="365760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9443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64992" y="34015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5A"/>
                </a:solidFill>
              </a:rPr>
              <a:t>Parallel Phases Need Coordination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4992" y="38862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With 7 team members across 4 phases, task dependencies matter. Phase 2 couldn't start until T1–T3 were complete. The Gantt chart and task tracker kept everyone aligned and blocked surprises.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108192" y="28346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08192" y="4389120"/>
            <a:ext cx="2651760" cy="365760"/>
          </a:xfrm>
          <a:prstGeom prst="rect">
            <a:avLst/>
          </a:prstGeom>
          <a:solidFill>
            <a:srgbClr val="1B2A5A"/>
          </a:solidFill>
          <a:ln w="12700">
            <a:solidFill>
              <a:srgbClr val="1B2A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29443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45352" y="34015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2A5A"/>
                </a:solidFill>
              </a:rPr>
              <a:t>Documentation Multiplies Your Work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45352" y="38862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334155"/>
                </a:solidFill>
              </a:rPr>
              <a:t>The Formula Cheat Sheet, Data Reference, and this presentation mean anyone can pick up the project, understand every formula, and continue cleaning. Undocumented work gets lost.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5486400" cy="5486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1664208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2E8F0"/>
                </a:solidFill>
              </a:rPr>
              <a:t>Project Management Gantt Chart &amp; Resource Planner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2423160"/>
            <a:ext cx="4572000" cy="1508760"/>
          </a:xfrm>
          <a:prstGeom prst="rect">
            <a:avLst/>
          </a:prstGeom>
          <a:solidFill>
            <a:srgbClr val="1E3A6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4871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</a:rPr>
              <a:t>Done by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2743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Aditya Saha  &amp;  Souparno Goswami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31272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Mentored by  Sir Sayan Sau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Project: v1.0  •  20 May 2026  •  Business Intelligence / Analytics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Gantt Chart &amp; Resource Planner</dc:title>
  <dc:subject>PptxGenJS Presentation</dc:subject>
  <dc:creator>Aditya Saha &amp; Souparno Goswami</dc:creator>
  <cp:lastModifiedBy>Aditya Saha &amp; Souparno Goswami</cp:lastModifiedBy>
  <cp:revision>1</cp:revision>
  <dcterms:created xsi:type="dcterms:W3CDTF">2026-05-19T08:23:10Z</dcterms:created>
  <dcterms:modified xsi:type="dcterms:W3CDTF">2026-05-19T08:23:10Z</dcterms:modified>
</cp:coreProperties>
</file>