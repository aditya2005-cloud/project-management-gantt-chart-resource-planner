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Dashboard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  •  10 Techniques  •  4 Phases  •  7 Team Members  •  Jan – Jun 2024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463040" cy="82296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01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785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12848" y="3383280"/>
            <a:ext cx="1463040" cy="82296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3401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12848" y="3785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77056" y="3383280"/>
            <a:ext cx="1463040" cy="82296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77056" y="3401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77056" y="3785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41264" y="3383280"/>
            <a:ext cx="1463040" cy="82296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3401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41264" y="3785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05472" y="3383280"/>
            <a:ext cx="1463040" cy="82296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3401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05472" y="3785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Review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— Data Cleaning Dashboard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64592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41832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218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Techniques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868680"/>
            <a:ext cx="164592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941832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14218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868680"/>
            <a:ext cx="164592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941832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931920" y="14218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868680"/>
            <a:ext cx="164592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941832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760720" y="14218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868680"/>
            <a:ext cx="1234440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941832"/>
            <a:ext cx="12344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589520" y="1421892"/>
            <a:ext cx="12344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057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Dashboard 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239572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project management workbook tracking the end-to-end data cleaning pipeline for an Excel BI dashboard. It combines 153 raw records with 10 structured cleaning techniques across 4 project phases, supported by a Gantt chart, resource planner, task tracker, and a 10-point QA checklist.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090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Sheets at a Glance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29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97480" y="342900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hub + 10 technique summary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62172"/>
            <a:ext cx="859536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621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97480" y="366217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uncleaned records — messy names, dates, revenue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895344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895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97480" y="389534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standardised &amp; validated records with flags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128516"/>
            <a:ext cx="859536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285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97480" y="412851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26-week plan across 4 phases with colour-coded bars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361688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616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697480" y="436168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2-person team allocation, utilisation &amp; workload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594860"/>
            <a:ext cx="859536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5948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97480" y="459486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log with formulas, dependencies &amp; review dates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28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Checklist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697480" y="48280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10-point pre-deployment QA gate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 Cleaning Techniques — Status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86868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858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0" y="685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Area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92040" y="685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0" y="685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12280" y="685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960120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960120"/>
            <a:ext cx="310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96012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0" y="9601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Export Cleaning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960120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1051560"/>
            <a:ext cx="914400" cy="210312"/>
          </a:xfrm>
          <a:prstGeom prst="roundRect">
            <a:avLst>
              <a:gd name="adj" fmla="val 21739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05156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12280" y="1033272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033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Completed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1380744"/>
            <a:ext cx="8686800" cy="393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1380744"/>
            <a:ext cx="310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1380744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Extra Spaces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0" y="138074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Import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1380744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0720" y="1472184"/>
            <a:ext cx="914400" cy="210312"/>
          </a:xfrm>
          <a:prstGeom prst="roundRect">
            <a:avLst>
              <a:gd name="adj" fmla="val 21739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47218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12280" y="1453896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14538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Completed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1801368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1801368"/>
            <a:ext cx="310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180136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Text Case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926080" y="180136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Codes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1801368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60720" y="1892808"/>
            <a:ext cx="914400" cy="210312"/>
          </a:xfrm>
          <a:prstGeom prst="roundRect">
            <a:avLst>
              <a:gd name="adj" fmla="val 21739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189280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12280" y="1874520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18745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Completed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2221992"/>
            <a:ext cx="8686800" cy="393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2221992"/>
            <a:ext cx="310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4360" y="222199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Date Formats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926080" y="222199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Dates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92040" y="2221992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60720" y="2313432"/>
            <a:ext cx="914400" cy="210312"/>
          </a:xfrm>
          <a:prstGeom prst="roundRect">
            <a:avLst>
              <a:gd name="adj" fmla="val 21739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231343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12280" y="2295144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22951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Completed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2642616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" y="2642616"/>
            <a:ext cx="310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4360" y="264261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926080" y="264261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Database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92040" y="2642616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60720" y="2734056"/>
            <a:ext cx="914400" cy="210312"/>
          </a:xfrm>
          <a:prstGeom prst="roundRect">
            <a:avLst>
              <a:gd name="adj" fmla="val 21739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273405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812280" y="2715768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12280" y="27157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Completed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28600" y="3063240"/>
            <a:ext cx="8686800" cy="393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3063240"/>
            <a:ext cx="310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94360" y="306324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Combined Columns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926080" y="306324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Database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92040" y="3063240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760720" y="3154680"/>
            <a:ext cx="914400" cy="210312"/>
          </a:xfrm>
          <a:prstGeom prst="roundRect">
            <a:avLst>
              <a:gd name="adj" fmla="val 21739"/>
            </a:avLst>
          </a:prstGeom>
          <a:solidFill>
            <a:srgbClr val="64748B">
              <a:alpha val="2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0" y="31546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812280" y="3136392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12280" y="3136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In Progress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28600" y="3483864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6032" y="3483864"/>
            <a:ext cx="310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94360" y="3483864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Non-Numeric Chars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926080" y="348386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Data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892040" y="3483864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760720" y="3575304"/>
            <a:ext cx="914400" cy="210312"/>
          </a:xfrm>
          <a:prstGeom prst="roundRect">
            <a:avLst>
              <a:gd name="adj" fmla="val 21739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60720" y="357530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812280" y="3557016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12280" y="35570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In Progress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28600" y="3904488"/>
            <a:ext cx="8686800" cy="393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6032" y="3904488"/>
            <a:ext cx="310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94360" y="390448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Ranges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2926080" y="390448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Age Dataset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892040" y="3904488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760720" y="3995928"/>
            <a:ext cx="914400" cy="210312"/>
          </a:xfrm>
          <a:prstGeom prst="roundRect">
            <a:avLst>
              <a:gd name="adj" fmla="val 21739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60720" y="399592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812280" y="3977640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12280" y="39776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Not Started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228600" y="4325112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6032" y="4325112"/>
            <a:ext cx="310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594360" y="432511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Category Labels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2926080" y="432511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SKU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892040" y="4325112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760720" y="4416552"/>
            <a:ext cx="914400" cy="210312"/>
          </a:xfrm>
          <a:prstGeom prst="roundRect">
            <a:avLst>
              <a:gd name="adj" fmla="val 21739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760720" y="441655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812280" y="4398264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12280" y="43982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Not Started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28600" y="4745736"/>
            <a:ext cx="8686800" cy="393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6032" y="4745736"/>
            <a:ext cx="310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594360" y="474573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&amp; Reconcile Cols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2926080" y="474573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Data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892040" y="4745736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760720" y="4837176"/>
            <a:ext cx="914400" cy="210312"/>
          </a:xfrm>
          <a:prstGeom prst="roundRect">
            <a:avLst>
              <a:gd name="adj" fmla="val 21739"/>
            </a:avLst>
          </a:prstGeom>
          <a:solidFill>
            <a:srgbClr val="64748B">
              <a:alpha val="2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760720" y="483717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6812280" y="4818888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812280" y="48188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Not Started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4-Phase Gantt Plan  (Jan – Jun 2024)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01168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Cleaning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Feb 2024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8328" y="1920240"/>
            <a:ext cx="1792224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Remove Duplicates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" y="2267712"/>
            <a:ext cx="1792224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677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Trim Extra Spaces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" y="2615184"/>
            <a:ext cx="1792224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151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Standardize Text Case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55448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40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04872" y="804672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04872" y="804672"/>
            <a:ext cx="201168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4872" y="804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04872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Format Cleaning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04872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– Mar 2024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14600" y="1920240"/>
            <a:ext cx="1792224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Fix Date Formats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14600" y="2267712"/>
            <a:ext cx="1792224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22677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Handle Missing Values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14600" y="2615184"/>
            <a:ext cx="1792224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26151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Split Combined Columns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33472" y="3840480"/>
            <a:ext cx="155448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33472" y="3840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81144" y="804672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EF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81144" y="804672"/>
            <a:ext cx="201168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804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81144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Validation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81144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May 2024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90872" y="1920240"/>
            <a:ext cx="1792224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Remove Non-Numeric Chars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90872" y="2267712"/>
            <a:ext cx="1792224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2677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Validate Data Ranges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90872" y="2615184"/>
            <a:ext cx="1792224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26151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Standardize Category Labels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09744" y="3840480"/>
            <a:ext cx="155448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3840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757416" y="804672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DE9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57416" y="804672"/>
            <a:ext cx="20116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804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757416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&amp; Final QA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57416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Jun 2024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67144" y="1920240"/>
            <a:ext cx="1792224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Combine &amp; Reconcile Columns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86016" y="3840480"/>
            <a:ext cx="1554480" cy="2286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86016" y="3840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21992" y="283464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98264" y="283464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74536" y="283464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4206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runs sequentially — 14 days per technique, with dedicated owners and built-in review dates.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Excel Formulas Used in This Dashboard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237744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057400" y="7132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94960" y="7132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969264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92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57400" y="96926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=COUNTIF($A$2:$A2,A2)&gt;1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94960" y="96926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a value has already appeared above — flag &amp; remove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1385316"/>
            <a:ext cx="868680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3853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Extra Spaces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57400" y="138531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=TRIM(CLEAN(A2))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94960" y="138531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leading/trailing &amp; multi-spaces; CLEAN removes non-printing chars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1801368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8013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Text Case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57400" y="18013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=PROPER(A2) | UPPER(A2) | LOWER(A2)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94960" y="18013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to Title Case / ALL CAPS / all lowercase consistently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2217420"/>
            <a:ext cx="868680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174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Date Formats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57400" y="22174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=DATEVALUE(A2) | =DATE(RIGHT(A2,4),MID(A2,4,2),LEFT(A2,2))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94960" y="22174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dates to Excel serial numbers for sorting &amp; calculation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2633472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6334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057400" y="263347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=IF(ISBLANK(A2),"Unknown",A2)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94960" y="263347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blank cells with a default; pair with IFERROR for formulas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3049524"/>
            <a:ext cx="868680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495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Combined Columns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57400" y="30495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=LEFT(A2,FIND(" ",A2)-1) | =MID(A2,FIND(" ",A2)+1,100)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94960" y="304952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first &amp; last name (or any delimited text) into separate columns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" y="3465576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4655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Non-Numeric Chars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057400" y="34655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=VALUE(SUBSTITUTE(SUBSTITUTE(A2,"Rs. ",""),",",""))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94960" y="346557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currency symbols &amp; commas, then casts to a true number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3881628"/>
            <a:ext cx="868680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8816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Ranges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057400" y="38816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=IF(AND(A2&gt;=18,A2&lt;=65),"Valid","Invalid")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394960" y="38816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a value falls within an acceptable min–max range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4297680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2976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Category Labels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057400" y="42976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=IFERROR(VLOOKUP(UPPER(A2),MapTable,2,0),PROPER(A2))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394960" y="42976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a canonical label from a mapping table; falls back to PROPER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" y="4713732"/>
            <a:ext cx="868680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137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Columns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057400" y="47137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=TEXTJOIN(", ",TRUE,B2,C2,D2)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0" y="471373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multiple address fields, skipping blanks, with a separator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Team — Allocation &amp; Utilisation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8778240" cy="237744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874520" y="7132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29000" y="7132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7132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/ Skills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86600" y="713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589520" y="7132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138160" y="713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969264"/>
            <a:ext cx="877824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969264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969264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Analyst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29000" y="969264"/>
            <a:ext cx="1188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Analytics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63440" y="969264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COUNTIF, TRIM, CLEAN, VLOOKUP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114032" y="969264"/>
            <a:ext cx="457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07808" y="969264"/>
            <a:ext cx="502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38160" y="1152144"/>
            <a:ext cx="685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152144"/>
            <a:ext cx="58293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167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2880" y="1554480"/>
            <a:ext cx="8778240" cy="5577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554480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Mehta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74520" y="1554480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Developer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29000" y="1554480"/>
            <a:ext cx="1188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63440" y="1554480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UPPER/LOWER/PROPER, TEXTSPLIT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114032" y="1554480"/>
            <a:ext cx="457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07808" y="1554480"/>
            <a:ext cx="502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38160" y="1737360"/>
            <a:ext cx="685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1737360"/>
            <a:ext cx="534924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9019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" y="2139696"/>
            <a:ext cx="877824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139696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Roy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74520" y="2139696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29000" y="2139696"/>
            <a:ext cx="1188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63440" y="2139696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DATEVALUE, VALUE, DATE, TEXTJOIN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114032" y="2139696"/>
            <a:ext cx="457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07808" y="2139696"/>
            <a:ext cx="502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2322576"/>
            <a:ext cx="685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2322576"/>
            <a:ext cx="6172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24871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2880" y="2724912"/>
            <a:ext cx="8778240" cy="5577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724912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 Verma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74520" y="2724912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Analyst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29000" y="2724912"/>
            <a:ext cx="1188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63440" y="2724912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IFERROR, ISBLANK, AVERAGEIFS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114032" y="2724912"/>
            <a:ext cx="457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07808" y="2724912"/>
            <a:ext cx="502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138160" y="2907792"/>
            <a:ext cx="685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8160" y="2907792"/>
            <a:ext cx="44577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307238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" y="3310128"/>
            <a:ext cx="877824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310128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Malhotra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874520" y="3310128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429000" y="3310128"/>
            <a:ext cx="1188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663440" y="331012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Planning, Reporting, Stakeholder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114032" y="3310128"/>
            <a:ext cx="457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607808" y="3310128"/>
            <a:ext cx="502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80h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38160" y="3493008"/>
            <a:ext cx="685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38160" y="3493008"/>
            <a:ext cx="37719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38160" y="36576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82880" y="3895344"/>
            <a:ext cx="8778240" cy="5577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3895344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 Krishnan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874520" y="3895344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429000" y="3895344"/>
            <a:ext cx="1188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Analytics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663440" y="3895344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TRIM, CLEAN, VLOOKUP, COUNTIF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114032" y="3895344"/>
            <a:ext cx="457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607808" y="3895344"/>
            <a:ext cx="502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80h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138160" y="4078224"/>
            <a:ext cx="685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38160" y="4078224"/>
            <a:ext cx="4800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38160" y="42428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182880" y="4480560"/>
            <a:ext cx="877824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4480560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Joshi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874520" y="4480560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429000" y="4480560"/>
            <a:ext cx="1188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663440" y="4480560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Modelling, ETL, Validation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114032" y="4480560"/>
            <a:ext cx="457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607808" y="4480560"/>
            <a:ext cx="502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60h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138160" y="4663440"/>
            <a:ext cx="685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38160" y="4663440"/>
            <a:ext cx="30861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138160" y="48280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Problems vs Cleaned Results — Before &amp; After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237744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13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084832" y="713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(Dirty)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07408" y="713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Value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720840" y="71323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/ Technique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978408"/>
            <a:ext cx="868680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978408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Phase Labels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978408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PHASE1, phase 2, Ph 5, phase-2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34840" y="978408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1, Phase 2, Phase 3…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48272" y="978408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PROPER() or manual lookup table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" y="1563624"/>
            <a:ext cx="8686800" cy="5577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563624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Mixed-Format Dates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03120" y="1563624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2024-01-29, 01/25/2024, 22-02-2024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34840" y="1563624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 date serial → 2024-01-22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48272" y="1563624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DATEVALUE() | DATE(RIGHT,MID,LEFT)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148840"/>
            <a:ext cx="868680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148840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Symbols in Numbers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03120" y="2148840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₹4200, Rs. 1,50,000, INR 5,500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4840" y="2148840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4200, 150000, 5500  (numeric)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48272" y="2148840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VALUE(SUBSTITUTE(SUBSTITUTE(…)))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" y="2734056"/>
            <a:ext cx="8686800" cy="5577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734056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Text Casing (Names)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03120" y="2734056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SUNITA VERMA, deepa krishnan, Amit Roy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34840" y="2734056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Sunita Verma, Deepa Krishnan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48272" y="2734056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PROPER(A2)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28600" y="3319272"/>
            <a:ext cx="868680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319272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Spaces in Names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03120" y="3319272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Priya  Sharma  ' (leading/trailing)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34840" y="3319272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'Priya Sharma' (clean single spaces)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48272" y="3319272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TRIM(CLEAN(A2))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8600" y="3904488"/>
            <a:ext cx="8686800" cy="5577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3904488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Blank Values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103120" y="3904488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(blank), TBD, Not Available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34840" y="3904488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'Unknown' or imputed value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48272" y="3904488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IF(ISBLANK(A2),"Unknown",A2)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4489704"/>
            <a:ext cx="868680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4489704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Complete Format Mix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103120" y="4489704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100, 100.00%, 100 %, 0 %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34840" y="4489704"/>
            <a:ext cx="2240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Decimal: 0.0 – 1.0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48272" y="4489704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VALUE(SUBSTITUTE(A2,"%",""))/100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Readiness Checklist — Pre-Deployment QA Gate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8778240" cy="237744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1323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Item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97480" y="7132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Verify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852160" y="7132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23760" y="7132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969264"/>
            <a:ext cx="8778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96926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9692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97480" y="96926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COUNTIF on key column — all values =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852160" y="96926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23760" y="1051560"/>
            <a:ext cx="164592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051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" y="1385316"/>
            <a:ext cx="877824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38531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138531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spaces in text fields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97480" y="13853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LEN(TRIM(A2))=LEN(A2) is TRUE for all rows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52160" y="138531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Mehta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23760" y="1467612"/>
            <a:ext cx="164592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4676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1801368"/>
            <a:ext cx="8778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180136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18013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text casing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97480" y="18013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values in category cols match expected list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852160" y="180136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Joshi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23760" y="1883664"/>
            <a:ext cx="164592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8836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2217420"/>
            <a:ext cx="877824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21742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22174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dates are true date serials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97480" y="22174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ISNUMBER(A2)=TRUE for all date cells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852160" y="221742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Roy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23760" y="2299716"/>
            <a:ext cx="164592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22997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82880" y="2633472"/>
            <a:ext cx="8778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26334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26334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unexpected blank cells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697480" y="263347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COUNTBLANK returns 0 for all mandatory columns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852160" y="26334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 Verma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223760" y="2715768"/>
            <a:ext cx="164592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27157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82880" y="3049524"/>
            <a:ext cx="877824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304952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30495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fields are numbers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697480" y="304952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ISNUMBER returns TRUE; no left-aligned numbers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852160" y="30495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Malhotra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223760" y="3131820"/>
            <a:ext cx="1645920" cy="23774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31318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82880" y="3465576"/>
            <a:ext cx="8778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346557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34655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labels standardised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697480" y="34655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on category col; unique count matches expected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852160" y="346557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Rao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223760" y="3547872"/>
            <a:ext cx="1645920" cy="23774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23760" y="35478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2880" y="3881628"/>
            <a:ext cx="877824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" y="388162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8640" y="38816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out-of-range values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697480" y="38816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&amp; MAX match expected bounds for each numeric col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852160" y="388162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 Iyer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223760" y="3963924"/>
            <a:ext cx="1645920" cy="23774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23760" y="39639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2880" y="4297680"/>
            <a:ext cx="8778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" y="429768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8640" y="4297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formatted as Excel Table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697480" y="4297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Ctrl+T applied — enables dynamic named ranges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852160" y="429768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 Krishnan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223760" y="4379976"/>
            <a:ext cx="1645920" cy="23774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23760" y="43799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82880" y="4713732"/>
            <a:ext cx="877824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28600" y="471373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48640" y="47137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of raw data retained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697480" y="47137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sheet or workbook copy preserved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852160" y="47137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Nair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223760" y="4796028"/>
            <a:ext cx="164592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23760" y="47960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28600" y="48920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 ✔ Completed: 6   ◑ In Progress: 2   ○ Not Started: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F3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Guide — What to Explain on Each Slide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9768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" y="8321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— Title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8328" y="10698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project: a structured data cleaning initiative for an Excel BI dashboard covering 153 raw records across 10 techniques.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" y="1847088"/>
            <a:ext cx="429768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" y="19019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— Overview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213969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7 sheets. Explain that the dashboard acts as a hub — from messy raw data → cleaned records → Gantt → QA gate.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2916936"/>
            <a:ext cx="429768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" y="297180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— Techniques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" y="320954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5 completed vs 3 not-started techniques. Emphasise the priority column — 4 Critical techniques have already been resolved.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3986784"/>
            <a:ext cx="429768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" y="40416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— Gantt / Phases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" y="427939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sequencing: each phase builds on the previous. Phase 1 removes structural noise; Phase 4 consolidates everything for final delivery.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777240"/>
            <a:ext cx="429768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8321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Formulas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10328" y="10698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technical heart. Walk through each formula, what problem it solves, and give a live demo in Excel if possible. Key ones: TRIM, DATEVALUE, COUNTIF, TEXTJOIN.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0600" y="1847088"/>
            <a:ext cx="429768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0328" y="19019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— Team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10328" y="213969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7-person team. Point out utilisation bars — Amit Roy (90%) is close to capacity; Neha Joshi (45%) has bandwidth available.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00600" y="2916936"/>
            <a:ext cx="429768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10328" y="297180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— Before/After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0328" y="320954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raw vs cleaned examples. Emphasise why mixed formats break formulas — e.g. text dates cannot be sorted, currency strings cannot be summed.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0600" y="3986784"/>
            <a:ext cx="429768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0328" y="40416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— Checklist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10328" y="427939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10 QA items are done. Items 8 &amp; 9 (range validation &amp; category standardisation) are blockers before the dashboard can go live.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Project Dashboard</dc:title>
  <dc:subject>PptxGenJS Presentation</dc:subject>
  <dc:creator>PptxGenJS</dc:creator>
  <cp:lastModifiedBy>PptxGenJS</cp:lastModifiedBy>
  <cp:revision>1</cp:revision>
  <dcterms:created xsi:type="dcterms:W3CDTF">2026-05-20T01:13:50Z</dcterms:created>
  <dcterms:modified xsi:type="dcterms:W3CDTF">2026-05-20T01:13:50Z</dcterms:modified>
</cp:coreProperties>
</file>